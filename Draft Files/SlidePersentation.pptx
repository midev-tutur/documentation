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8FA3"/>
    <a:srgbClr val="FFFFFF"/>
    <a:srgbClr val="B90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36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2D0D-8DB3-4EE2-8CBA-2E7E89860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34E7A-EAA4-4C7F-B0CF-9E2E1E921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23DC1-5CC2-4BE6-B92D-12F3B0FB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B8B99-A957-4894-A7C3-FEAED575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19057-8D51-48C6-80CB-E50C55F9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3659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BA84-9290-4D12-98DE-EE09D471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10063-87BE-4BB1-BA53-B21487AC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BA433-4C76-4A74-9ACB-FCA1E370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891F-F7B4-4AF0-8097-83D0DFFDC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2C94-C079-40F1-A8CA-71726ADE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428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2C72-3330-4556-9790-4E4F27B6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9FEA9-9E3B-460A-A190-5EE7B7F76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4BBC6-5558-4254-AFAE-11D9D9A9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C2F3-C058-476D-B648-ABF3984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FCFB-978B-448F-8074-9929BFE5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810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E563A-6199-4235-A5EA-5891395E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FFB0C-3A7C-4B10-BB9B-B2C8C9873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9D354-9960-4499-80B4-42766D762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9F4A6-DAE3-4B36-AC2C-253B033E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B5F01-E5FB-409F-9BB0-B93D983D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3A014-21E3-4134-A93D-095E70D3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238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3538-5A72-403C-821F-8BDC1962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79EB4-28C9-48DE-832F-2D1D2B01C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4BD73-70EE-44A3-9E24-F32166D28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FEE5A-B7EF-4D7D-BA0C-B1A0F81BC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1CF3C-08D2-4A0A-9036-7CCCD76C1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2A471-CF41-4E77-8B66-FA67FD06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890C5-E0D9-422B-AF11-0933943D7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3F86C-6CA4-4BD2-B515-A5253C78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717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670E-6AAE-48BC-9DDA-5DBB7DF6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2DE4C-3BA6-470C-9222-A3324F05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5E8CA-C6FA-45BF-A261-8A6EDAE7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390AD-A167-4C60-98E3-E424D0C7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495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2C5B9-683B-4119-84E1-3920C9A39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0DC98-CC6E-49FA-BD2C-DA0FA3629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E7B41-BBB2-4CE2-9ECB-9B1E26ECB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648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DA8A-6CC4-495D-BB24-BF65235B3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035B4-54BE-47D1-9E2A-1FC943B7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A9298-0FC2-4D06-884E-FF8DAEB7E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51F4E-F4B0-4175-9F74-59371E39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01562-F030-4B3E-B37D-4C7C2169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5FFBA-9343-4F00-83F8-3C166DC6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02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5516-5E21-4E66-9570-30F77DE9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F059F1-216B-4E1C-ACA3-ECA62DF61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2F974-5FB6-40B3-BF2A-5AAF01A57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14516-44A7-44BB-B94B-F3E1441BE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9B267-5018-415A-A06A-42A5904D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87AC1-2703-4216-B73A-AFEBD139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461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649D-A2F3-4E7B-AF3A-4FF3A01A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64616-3576-4904-B8B2-EF2CC49B0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42A2-DBEB-4B47-A9FC-4914D97D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5289-D9BA-42EE-BA47-CEEF34B6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BF30-06F0-4530-9ABF-914FD9E5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542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E5AC2-DB37-48DD-94BA-AD09FD754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EA7EC-788B-4EE0-8D49-A956B2BA2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C0804-2A99-4728-8609-9F4B3B33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3063A-8EB0-406B-88EB-380525C0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45B6F-C2E7-4737-A45F-B90FBA40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443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BD2C9-E7F7-425A-8DEE-2365B4C5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BAD1D-1561-4806-8115-F1727A6C1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0DD0-4A1F-4D64-91F7-EE8564B8F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FC30F-0108-4C12-8600-F2514B03F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6FBD-C1BB-4CED-A8D1-E1F15C8C2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660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005" y="873943"/>
            <a:ext cx="5110113" cy="5110113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62825" y="124340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2" name="Google Shape;389;p37">
            <a:extLst>
              <a:ext uri="{FF2B5EF4-FFF2-40B4-BE49-F238E27FC236}">
                <a16:creationId xmlns:a16="http://schemas.microsoft.com/office/drawing/2014/main" id="{C07C5E7D-F591-458F-A984-EC1F8211E049}"/>
              </a:ext>
            </a:extLst>
          </p:cNvPr>
          <p:cNvSpPr txBox="1">
            <a:spLocks/>
          </p:cNvSpPr>
          <p:nvPr/>
        </p:nvSpPr>
        <p:spPr>
          <a:xfrm>
            <a:off x="-2516956" y="6330300"/>
            <a:ext cx="251695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D" sz="4000" b="1" dirty="0" err="1">
                <a:latin typeface="Rubik" pitchFamily="2" charset="-79"/>
                <a:cs typeface="Rubik" pitchFamily="2" charset="-79"/>
              </a:rPr>
              <a:t>Tutur</a:t>
            </a:r>
            <a:r>
              <a:rPr lang="en-ID" sz="4000" b="1" dirty="0">
                <a:latin typeface="Rubik" pitchFamily="2" charset="-79"/>
                <a:cs typeface="Rubik" pitchFamily="2" charset="-79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923827" y="-1164210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481516" y="6556447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5738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9A074A-8A44-4247-997B-93CF0F6430A8}"/>
              </a:ext>
            </a:extLst>
          </p:cNvPr>
          <p:cNvSpPr/>
          <p:nvPr/>
        </p:nvSpPr>
        <p:spPr>
          <a:xfrm>
            <a:off x="1357460" y="4468305"/>
            <a:ext cx="9577633" cy="886120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81" b="15555"/>
          <a:stretch/>
        </p:blipFill>
        <p:spPr>
          <a:xfrm>
            <a:off x="3705031" y="1614342"/>
            <a:ext cx="4781938" cy="3020468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62825" y="124340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2" name="Google Shape;389;p37">
            <a:extLst>
              <a:ext uri="{FF2B5EF4-FFF2-40B4-BE49-F238E27FC236}">
                <a16:creationId xmlns:a16="http://schemas.microsoft.com/office/drawing/2014/main" id="{C07C5E7D-F591-458F-A984-EC1F8211E049}"/>
              </a:ext>
            </a:extLst>
          </p:cNvPr>
          <p:cNvSpPr txBox="1">
            <a:spLocks/>
          </p:cNvSpPr>
          <p:nvPr/>
        </p:nvSpPr>
        <p:spPr>
          <a:xfrm>
            <a:off x="-85785" y="6211326"/>
            <a:ext cx="251695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D" sz="4000" b="1" dirty="0" err="1">
                <a:latin typeface="Rubik" pitchFamily="2" charset="-79"/>
                <a:cs typeface="Rubik" pitchFamily="2" charset="-79"/>
              </a:rPr>
              <a:t>Tutur</a:t>
            </a:r>
            <a:r>
              <a:rPr lang="en-ID" sz="4000" b="1" dirty="0">
                <a:latin typeface="Rubik" pitchFamily="2" charset="-79"/>
                <a:cs typeface="Rubik" pitchFamily="2" charset="-79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763572" y="-723355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316366" y="6436302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1141430" y="4646793"/>
            <a:ext cx="990914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AI-POWERED LANGUAGE LEARNING FOR INDIGENOUS ASEAN LANGUAGES</a:t>
            </a:r>
            <a:endParaRPr lang="en-ID" sz="18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1026" name="Picture 2" descr="https://lh3.googleusercontent.com/sitesv/APaQ0SRcFop3ZseXXB3a1DQgfrXDx8F-goPcu2vJFCcVd1DwoPck_J6tY2yb5_v-49CX8kQyVp9uH1NLAx-_2RDrOZOCV0V4XJ1O3b9UWyA0dVhpuGMPX56UTNTVZeiEPLxlRDKgEENVQdrvwRha9caIt7Fc9CqRI_IcG489Kt8HZRxOHUiKH6rp-ln-RkE=w16383">
            <a:extLst>
              <a:ext uri="{FF2B5EF4-FFF2-40B4-BE49-F238E27FC236}">
                <a16:creationId xmlns:a16="http://schemas.microsoft.com/office/drawing/2014/main" id="{2FC048F6-81E1-4D35-B23C-7A4AEC0CB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2781" y="140464"/>
            <a:ext cx="585400" cy="58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EFAB98-F1F7-4E7D-A0B9-C01AE8C746D8}"/>
              </a:ext>
            </a:extLst>
          </p:cNvPr>
          <p:cNvSpPr/>
          <p:nvPr/>
        </p:nvSpPr>
        <p:spPr>
          <a:xfrm rot="21049000">
            <a:off x="378590" y="4130621"/>
            <a:ext cx="2700965" cy="477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B8C81-64A0-4E54-8182-135B31C5B14D}"/>
              </a:ext>
            </a:extLst>
          </p:cNvPr>
          <p:cNvSpPr/>
          <p:nvPr/>
        </p:nvSpPr>
        <p:spPr>
          <a:xfrm rot="21049000">
            <a:off x="9112446" y="5218544"/>
            <a:ext cx="2700965" cy="477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33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1BE3131-0E25-4409-ABEE-B5B8385115B3}"/>
              </a:ext>
            </a:extLst>
          </p:cNvPr>
          <p:cNvSpPr/>
          <p:nvPr/>
        </p:nvSpPr>
        <p:spPr>
          <a:xfrm>
            <a:off x="8144842" y="2183344"/>
            <a:ext cx="3124366" cy="2501942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6CDB7B-BB6A-4416-86CF-2B72315A94BE}"/>
              </a:ext>
            </a:extLst>
          </p:cNvPr>
          <p:cNvSpPr/>
          <p:nvPr/>
        </p:nvSpPr>
        <p:spPr>
          <a:xfrm>
            <a:off x="8366562" y="2474757"/>
            <a:ext cx="2711230" cy="2766419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F02214-4ED2-438A-9AC2-F95993923BAE}"/>
              </a:ext>
            </a:extLst>
          </p:cNvPr>
          <p:cNvSpPr/>
          <p:nvPr/>
        </p:nvSpPr>
        <p:spPr>
          <a:xfrm>
            <a:off x="4429163" y="2940431"/>
            <a:ext cx="2936468" cy="2501942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CD3929-3A16-4DEF-8504-3C155E1BCDDB}"/>
              </a:ext>
            </a:extLst>
          </p:cNvPr>
          <p:cNvSpPr/>
          <p:nvPr/>
        </p:nvSpPr>
        <p:spPr>
          <a:xfrm>
            <a:off x="4626037" y="2474757"/>
            <a:ext cx="2548178" cy="2766419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21281" r="16328" b="15555"/>
          <a:stretch/>
        </p:blipFill>
        <p:spPr>
          <a:xfrm>
            <a:off x="245806" y="6049658"/>
            <a:ext cx="612703" cy="60010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30331" y="2089557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>
            <a:off x="2429" y="-29128"/>
            <a:ext cx="4255803" cy="1075795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>
            <a:off x="4934535" y="6230523"/>
            <a:ext cx="7257465" cy="627477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D6BEE6-B263-4C7B-AEB8-4865AF70EAF8}"/>
              </a:ext>
            </a:extLst>
          </p:cNvPr>
          <p:cNvSpPr/>
          <p:nvPr/>
        </p:nvSpPr>
        <p:spPr>
          <a:xfrm>
            <a:off x="810714" y="2183344"/>
            <a:ext cx="2936468" cy="2501942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56115" y="372839"/>
            <a:ext cx="41484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THE PROBLEM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7F51D-7B58-43AC-85C6-42F8158C8385}"/>
              </a:ext>
            </a:extLst>
          </p:cNvPr>
          <p:cNvSpPr/>
          <p:nvPr/>
        </p:nvSpPr>
        <p:spPr>
          <a:xfrm>
            <a:off x="1007588" y="2474757"/>
            <a:ext cx="2548178" cy="2766419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8A915EC6-8FB7-492F-A702-5BC89EC08B17}"/>
              </a:ext>
            </a:extLst>
          </p:cNvPr>
          <p:cNvSpPr txBox="1">
            <a:spLocks/>
          </p:cNvSpPr>
          <p:nvPr/>
        </p:nvSpPr>
        <p:spPr>
          <a:xfrm>
            <a:off x="1189179" y="3125293"/>
            <a:ext cx="234806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1,200+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8" name="Google Shape;389;p37">
            <a:extLst>
              <a:ext uri="{FF2B5EF4-FFF2-40B4-BE49-F238E27FC236}">
                <a16:creationId xmlns:a16="http://schemas.microsoft.com/office/drawing/2014/main" id="{2CFB5138-CB4E-45C0-81D3-5CF5F8FE08E8}"/>
              </a:ext>
            </a:extLst>
          </p:cNvPr>
          <p:cNvSpPr txBox="1">
            <a:spLocks/>
          </p:cNvSpPr>
          <p:nvPr/>
        </p:nvSpPr>
        <p:spPr>
          <a:xfrm>
            <a:off x="1007597" y="3672317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LANGUAGES</a:t>
            </a:r>
            <a:endParaRPr lang="en-ID" sz="2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0" name="Google Shape;389;p37">
            <a:extLst>
              <a:ext uri="{FF2B5EF4-FFF2-40B4-BE49-F238E27FC236}">
                <a16:creationId xmlns:a16="http://schemas.microsoft.com/office/drawing/2014/main" id="{A6CE9AD7-8BAF-4ACC-9E1F-A0ADFA814680}"/>
              </a:ext>
            </a:extLst>
          </p:cNvPr>
          <p:cNvSpPr txBox="1">
            <a:spLocks/>
          </p:cNvSpPr>
          <p:nvPr/>
        </p:nvSpPr>
        <p:spPr>
          <a:xfrm>
            <a:off x="1007588" y="4478032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Spoken Across ASEAN</a:t>
            </a:r>
            <a:endParaRPr lang="en-ID" sz="20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8" name="Google Shape;395;p37">
            <a:extLst>
              <a:ext uri="{FF2B5EF4-FFF2-40B4-BE49-F238E27FC236}">
                <a16:creationId xmlns:a16="http://schemas.microsoft.com/office/drawing/2014/main" id="{7B5CEE79-9F39-4723-9711-9E097CB5A016}"/>
              </a:ext>
            </a:extLst>
          </p:cNvPr>
          <p:cNvSpPr txBox="1">
            <a:spLocks/>
          </p:cNvSpPr>
          <p:nvPr/>
        </p:nvSpPr>
        <p:spPr>
          <a:xfrm>
            <a:off x="5733123" y="1985763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31" name="Google Shape;389;p37">
            <a:extLst>
              <a:ext uri="{FF2B5EF4-FFF2-40B4-BE49-F238E27FC236}">
                <a16:creationId xmlns:a16="http://schemas.microsoft.com/office/drawing/2014/main" id="{B45BEC8C-DEB0-41D8-9FD6-11F5C71B7AD8}"/>
              </a:ext>
            </a:extLst>
          </p:cNvPr>
          <p:cNvSpPr txBox="1">
            <a:spLocks/>
          </p:cNvSpPr>
          <p:nvPr/>
        </p:nvSpPr>
        <p:spPr>
          <a:xfrm>
            <a:off x="4791971" y="3021499"/>
            <a:ext cx="234806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170+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2" name="Google Shape;389;p37">
            <a:extLst>
              <a:ext uri="{FF2B5EF4-FFF2-40B4-BE49-F238E27FC236}">
                <a16:creationId xmlns:a16="http://schemas.microsoft.com/office/drawing/2014/main" id="{4347F987-DCC0-43F0-AD59-DC7C497316EE}"/>
              </a:ext>
            </a:extLst>
          </p:cNvPr>
          <p:cNvSpPr txBox="1">
            <a:spLocks/>
          </p:cNvSpPr>
          <p:nvPr/>
        </p:nvSpPr>
        <p:spPr>
          <a:xfrm>
            <a:off x="4610389" y="3568523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AT RISK</a:t>
            </a:r>
            <a:endParaRPr lang="en-ID" sz="2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3" name="Google Shape;389;p37">
            <a:extLst>
              <a:ext uri="{FF2B5EF4-FFF2-40B4-BE49-F238E27FC236}">
                <a16:creationId xmlns:a16="http://schemas.microsoft.com/office/drawing/2014/main" id="{5E3C5306-2D3F-4415-923D-2A7E7C56DEF8}"/>
              </a:ext>
            </a:extLst>
          </p:cNvPr>
          <p:cNvSpPr txBox="1">
            <a:spLocks/>
          </p:cNvSpPr>
          <p:nvPr/>
        </p:nvSpPr>
        <p:spPr>
          <a:xfrm>
            <a:off x="4597821" y="4303766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Languages Facing Extinction (UNESCO)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4" name="Google Shape;395;p37">
            <a:extLst>
              <a:ext uri="{FF2B5EF4-FFF2-40B4-BE49-F238E27FC236}">
                <a16:creationId xmlns:a16="http://schemas.microsoft.com/office/drawing/2014/main" id="{F6248C5D-CBC9-4837-909F-F39857271603}"/>
              </a:ext>
            </a:extLst>
          </p:cNvPr>
          <p:cNvSpPr txBox="1">
            <a:spLocks/>
          </p:cNvSpPr>
          <p:nvPr/>
        </p:nvSpPr>
        <p:spPr>
          <a:xfrm>
            <a:off x="9486207" y="1901025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37" name="Google Shape;389;p37">
            <a:extLst>
              <a:ext uri="{FF2B5EF4-FFF2-40B4-BE49-F238E27FC236}">
                <a16:creationId xmlns:a16="http://schemas.microsoft.com/office/drawing/2014/main" id="{A562BA7F-03D9-4783-9A06-AB0A32A2B0DB}"/>
              </a:ext>
            </a:extLst>
          </p:cNvPr>
          <p:cNvSpPr txBox="1">
            <a:spLocks/>
          </p:cNvSpPr>
          <p:nvPr/>
        </p:nvSpPr>
        <p:spPr>
          <a:xfrm>
            <a:off x="8545055" y="2936761"/>
            <a:ext cx="234806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93%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8" name="Google Shape;389;p37">
            <a:extLst>
              <a:ext uri="{FF2B5EF4-FFF2-40B4-BE49-F238E27FC236}">
                <a16:creationId xmlns:a16="http://schemas.microsoft.com/office/drawing/2014/main" id="{8A5438D1-4A1D-4598-B1DC-49D5193E740E}"/>
              </a:ext>
            </a:extLst>
          </p:cNvPr>
          <p:cNvSpPr txBox="1">
            <a:spLocks/>
          </p:cNvSpPr>
          <p:nvPr/>
        </p:nvSpPr>
        <p:spPr>
          <a:xfrm>
            <a:off x="8363473" y="3483785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FEWER RESOURCES</a:t>
            </a:r>
            <a:endParaRPr lang="en-ID" sz="2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9" name="Google Shape;389;p37">
            <a:extLst>
              <a:ext uri="{FF2B5EF4-FFF2-40B4-BE49-F238E27FC236}">
                <a16:creationId xmlns:a16="http://schemas.microsoft.com/office/drawing/2014/main" id="{B116806A-C52C-4525-8197-601B4A9A69BC}"/>
              </a:ext>
            </a:extLst>
          </p:cNvPr>
          <p:cNvSpPr txBox="1">
            <a:spLocks/>
          </p:cNvSpPr>
          <p:nvPr/>
        </p:nvSpPr>
        <p:spPr>
          <a:xfrm>
            <a:off x="8363464" y="4289500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Spoken Across ASEAN</a:t>
            </a:r>
            <a:endParaRPr lang="en-ID" sz="20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4" name="Google Shape;389;p37">
            <a:extLst>
              <a:ext uri="{FF2B5EF4-FFF2-40B4-BE49-F238E27FC236}">
                <a16:creationId xmlns:a16="http://schemas.microsoft.com/office/drawing/2014/main" id="{DEB2580F-93E2-4940-8F83-035B329957E4}"/>
              </a:ext>
            </a:extLst>
          </p:cNvPr>
          <p:cNvSpPr txBox="1">
            <a:spLocks/>
          </p:cNvSpPr>
          <p:nvPr/>
        </p:nvSpPr>
        <p:spPr>
          <a:xfrm>
            <a:off x="5026834" y="6248366"/>
            <a:ext cx="710617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The digital age is accelerating language death, not preventing it.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0609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838A2484-579E-4127-8BB8-0E2283BDEF60}"/>
              </a:ext>
            </a:extLst>
          </p:cNvPr>
          <p:cNvSpPr/>
          <p:nvPr/>
        </p:nvSpPr>
        <p:spPr>
          <a:xfrm>
            <a:off x="1690393" y="1571421"/>
            <a:ext cx="8869452" cy="4906616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21281" r="16328" b="15555"/>
          <a:stretch/>
        </p:blipFill>
        <p:spPr>
          <a:xfrm>
            <a:off x="245806" y="6049658"/>
            <a:ext cx="612703" cy="60010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221127" y="2134087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>
            <a:off x="3769071" y="-22004"/>
            <a:ext cx="4255803" cy="1075795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3822757" y="379963"/>
            <a:ext cx="41484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OUR SOLUTION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7F51D-7B58-43AC-85C6-42F8158C8385}"/>
              </a:ext>
            </a:extLst>
          </p:cNvPr>
          <p:cNvSpPr/>
          <p:nvPr/>
        </p:nvSpPr>
        <p:spPr>
          <a:xfrm>
            <a:off x="1098383" y="1847003"/>
            <a:ext cx="9995233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8A915EC6-8FB7-492F-A702-5BC89EC08B17}"/>
              </a:ext>
            </a:extLst>
          </p:cNvPr>
          <p:cNvSpPr txBox="1">
            <a:spLocks/>
          </p:cNvSpPr>
          <p:nvPr/>
        </p:nvSpPr>
        <p:spPr>
          <a:xfrm>
            <a:off x="1268906" y="2041545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AI-POWERED &amp; GAMIFIED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0" name="Google Shape;389;p37">
            <a:extLst>
              <a:ext uri="{FF2B5EF4-FFF2-40B4-BE49-F238E27FC236}">
                <a16:creationId xmlns:a16="http://schemas.microsoft.com/office/drawing/2014/main" id="{A6CE9AD7-8BAF-4ACC-9E1F-A0ADFA814680}"/>
              </a:ext>
            </a:extLst>
          </p:cNvPr>
          <p:cNvSpPr txBox="1">
            <a:spLocks/>
          </p:cNvSpPr>
          <p:nvPr/>
        </p:nvSpPr>
        <p:spPr>
          <a:xfrm>
            <a:off x="1308234" y="2469329"/>
            <a:ext cx="957552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Interactive learning platform built specifically for underrepresented ASEAN languages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0" name="Google Shape;395;p37">
            <a:extLst>
              <a:ext uri="{FF2B5EF4-FFF2-40B4-BE49-F238E27FC236}">
                <a16:creationId xmlns:a16="http://schemas.microsoft.com/office/drawing/2014/main" id="{1E504F83-E8B2-4C19-AD96-FFB418A5F7CF}"/>
              </a:ext>
            </a:extLst>
          </p:cNvPr>
          <p:cNvSpPr txBox="1">
            <a:spLocks/>
          </p:cNvSpPr>
          <p:nvPr/>
        </p:nvSpPr>
        <p:spPr>
          <a:xfrm>
            <a:off x="2221127" y="3619355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F738BB-421E-401A-B225-D424DA15018E}"/>
              </a:ext>
            </a:extLst>
          </p:cNvPr>
          <p:cNvSpPr/>
          <p:nvPr/>
        </p:nvSpPr>
        <p:spPr>
          <a:xfrm>
            <a:off x="1098383" y="3332271"/>
            <a:ext cx="9995233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Google Shape;389;p37">
            <a:extLst>
              <a:ext uri="{FF2B5EF4-FFF2-40B4-BE49-F238E27FC236}">
                <a16:creationId xmlns:a16="http://schemas.microsoft.com/office/drawing/2014/main" id="{7CEAE541-04B6-45A3-B91D-B0BA92101A67}"/>
              </a:ext>
            </a:extLst>
          </p:cNvPr>
          <p:cNvSpPr txBox="1">
            <a:spLocks/>
          </p:cNvSpPr>
          <p:nvPr/>
        </p:nvSpPr>
        <p:spPr>
          <a:xfrm>
            <a:off x="1268906" y="3526813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TARGET LANGUAGES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5" name="Google Shape;389;p37">
            <a:extLst>
              <a:ext uri="{FF2B5EF4-FFF2-40B4-BE49-F238E27FC236}">
                <a16:creationId xmlns:a16="http://schemas.microsoft.com/office/drawing/2014/main" id="{10E75669-4464-4512-8640-2506C930321D}"/>
              </a:ext>
            </a:extLst>
          </p:cNvPr>
          <p:cNvSpPr txBox="1">
            <a:spLocks/>
          </p:cNvSpPr>
          <p:nvPr/>
        </p:nvSpPr>
        <p:spPr>
          <a:xfrm>
            <a:off x="1308234" y="3954597"/>
            <a:ext cx="957552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Minangkabau, Batak Toba, Iban, Sarawak Malay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6" name="Google Shape;395;p37">
            <a:extLst>
              <a:ext uri="{FF2B5EF4-FFF2-40B4-BE49-F238E27FC236}">
                <a16:creationId xmlns:a16="http://schemas.microsoft.com/office/drawing/2014/main" id="{04D510A2-8486-4DBB-8395-30137DF20F28}"/>
              </a:ext>
            </a:extLst>
          </p:cNvPr>
          <p:cNvSpPr txBox="1">
            <a:spLocks/>
          </p:cNvSpPr>
          <p:nvPr/>
        </p:nvSpPr>
        <p:spPr>
          <a:xfrm>
            <a:off x="2221127" y="5116136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566C5BA-ED1A-4ED8-A8AD-1F8468E01879}"/>
              </a:ext>
            </a:extLst>
          </p:cNvPr>
          <p:cNvSpPr/>
          <p:nvPr/>
        </p:nvSpPr>
        <p:spPr>
          <a:xfrm>
            <a:off x="1098383" y="4829051"/>
            <a:ext cx="9995233" cy="136527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Google Shape;389;p37">
            <a:extLst>
              <a:ext uri="{FF2B5EF4-FFF2-40B4-BE49-F238E27FC236}">
                <a16:creationId xmlns:a16="http://schemas.microsoft.com/office/drawing/2014/main" id="{0B871262-2876-44BA-AB24-8C203E66148F}"/>
              </a:ext>
            </a:extLst>
          </p:cNvPr>
          <p:cNvSpPr txBox="1">
            <a:spLocks/>
          </p:cNvSpPr>
          <p:nvPr/>
        </p:nvSpPr>
        <p:spPr>
          <a:xfrm>
            <a:off x="1268906" y="5023594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ALIGNED WITH SDGS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9" name="Google Shape;389;p37">
            <a:extLst>
              <a:ext uri="{FF2B5EF4-FFF2-40B4-BE49-F238E27FC236}">
                <a16:creationId xmlns:a16="http://schemas.microsoft.com/office/drawing/2014/main" id="{EA2A37B4-9E80-4665-8271-8EC968EFCD73}"/>
              </a:ext>
            </a:extLst>
          </p:cNvPr>
          <p:cNvSpPr txBox="1">
            <a:spLocks/>
          </p:cNvSpPr>
          <p:nvPr/>
        </p:nvSpPr>
        <p:spPr>
          <a:xfrm>
            <a:off x="1268906" y="5589002"/>
            <a:ext cx="957552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SDG 4 — Quality Education | SDG 10 Reduced Inequalities | SDG 11 Sustainable Cities and Communities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3861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005" y="873943"/>
            <a:ext cx="5110113" cy="5110113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-430246" y="580105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923827" y="-584105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481516" y="6251650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D27C5E-B7A4-4A1C-AB38-283EF0BCE651}"/>
              </a:ext>
            </a:extLst>
          </p:cNvPr>
          <p:cNvSpPr/>
          <p:nvPr/>
        </p:nvSpPr>
        <p:spPr>
          <a:xfrm>
            <a:off x="2647" y="949195"/>
            <a:ext cx="823902" cy="2549650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Google Shape;389;p37">
            <a:extLst>
              <a:ext uri="{FF2B5EF4-FFF2-40B4-BE49-F238E27FC236}">
                <a16:creationId xmlns:a16="http://schemas.microsoft.com/office/drawing/2014/main" id="{BFBA1427-A540-461E-A863-2DD0CA347D48}"/>
              </a:ext>
            </a:extLst>
          </p:cNvPr>
          <p:cNvSpPr txBox="1">
            <a:spLocks/>
          </p:cNvSpPr>
          <p:nvPr/>
        </p:nvSpPr>
        <p:spPr>
          <a:xfrm>
            <a:off x="-41131" y="956752"/>
            <a:ext cx="911457" cy="24906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I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V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E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0" name="Google Shape;395;p37">
            <a:extLst>
              <a:ext uri="{FF2B5EF4-FFF2-40B4-BE49-F238E27FC236}">
                <a16:creationId xmlns:a16="http://schemas.microsoft.com/office/drawing/2014/main" id="{A557EA50-2DBB-4565-973D-0F078621E532}"/>
              </a:ext>
            </a:extLst>
          </p:cNvPr>
          <p:cNvSpPr txBox="1">
            <a:spLocks/>
          </p:cNvSpPr>
          <p:nvPr/>
        </p:nvSpPr>
        <p:spPr>
          <a:xfrm>
            <a:off x="10934681" y="3033254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DDF89C-E022-4E71-99F3-A3674EBF994B}"/>
              </a:ext>
            </a:extLst>
          </p:cNvPr>
          <p:cNvSpPr/>
          <p:nvPr/>
        </p:nvSpPr>
        <p:spPr>
          <a:xfrm>
            <a:off x="11367574" y="3402344"/>
            <a:ext cx="823902" cy="2549650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Google Shape;389;p37">
            <a:extLst>
              <a:ext uri="{FF2B5EF4-FFF2-40B4-BE49-F238E27FC236}">
                <a16:creationId xmlns:a16="http://schemas.microsoft.com/office/drawing/2014/main" id="{61FF92EA-9B9D-4079-8389-97EB48E0AB48}"/>
              </a:ext>
            </a:extLst>
          </p:cNvPr>
          <p:cNvSpPr txBox="1">
            <a:spLocks/>
          </p:cNvSpPr>
          <p:nvPr/>
        </p:nvSpPr>
        <p:spPr>
          <a:xfrm>
            <a:off x="9703929" y="5365301"/>
            <a:ext cx="41484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D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M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O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6285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62825" y="124340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923827" y="-1164210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481516" y="6556447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67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671263C-E3C5-4A0E-AFA7-1EDA0650F029}"/>
              </a:ext>
            </a:extLst>
          </p:cNvPr>
          <p:cNvSpPr/>
          <p:nvPr/>
        </p:nvSpPr>
        <p:spPr>
          <a:xfrm>
            <a:off x="6651395" y="2122289"/>
            <a:ext cx="3863605" cy="4355748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8A2484-579E-4127-8BB8-0E2283BDEF60}"/>
              </a:ext>
            </a:extLst>
          </p:cNvPr>
          <p:cNvSpPr/>
          <p:nvPr/>
        </p:nvSpPr>
        <p:spPr>
          <a:xfrm>
            <a:off x="1690393" y="1571421"/>
            <a:ext cx="3863605" cy="4301478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21281" r="16328" b="15555"/>
          <a:stretch/>
        </p:blipFill>
        <p:spPr>
          <a:xfrm>
            <a:off x="245806" y="6049658"/>
            <a:ext cx="612703" cy="60010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221127" y="2134087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>
            <a:off x="3769071" y="-22004"/>
            <a:ext cx="4255803" cy="1075795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3822757" y="379963"/>
            <a:ext cx="41484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KEY FEATURES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7F51D-7B58-43AC-85C6-42F8158C8385}"/>
              </a:ext>
            </a:extLst>
          </p:cNvPr>
          <p:cNvSpPr/>
          <p:nvPr/>
        </p:nvSpPr>
        <p:spPr>
          <a:xfrm>
            <a:off x="1098383" y="1847003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8A915EC6-8FB7-492F-A702-5BC89EC08B17}"/>
              </a:ext>
            </a:extLst>
          </p:cNvPr>
          <p:cNvSpPr txBox="1">
            <a:spLocks/>
          </p:cNvSpPr>
          <p:nvPr/>
        </p:nvSpPr>
        <p:spPr>
          <a:xfrm>
            <a:off x="1268906" y="2041545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NLP ENGINE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0" name="Google Shape;389;p37">
            <a:extLst>
              <a:ext uri="{FF2B5EF4-FFF2-40B4-BE49-F238E27FC236}">
                <a16:creationId xmlns:a16="http://schemas.microsoft.com/office/drawing/2014/main" id="{A6CE9AD7-8BAF-4ACC-9E1F-A0ADFA814680}"/>
              </a:ext>
            </a:extLst>
          </p:cNvPr>
          <p:cNvSpPr txBox="1">
            <a:spLocks/>
          </p:cNvSpPr>
          <p:nvPr/>
        </p:nvSpPr>
        <p:spPr>
          <a:xfrm>
            <a:off x="1308234" y="2469329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Custom models for 5 low-resource ASEAN languages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8" name="Google Shape;395;p37">
            <a:extLst>
              <a:ext uri="{FF2B5EF4-FFF2-40B4-BE49-F238E27FC236}">
                <a16:creationId xmlns:a16="http://schemas.microsoft.com/office/drawing/2014/main" id="{86F39A92-19BF-4E78-AD34-15F14EAFEEFE}"/>
              </a:ext>
            </a:extLst>
          </p:cNvPr>
          <p:cNvSpPr txBox="1">
            <a:spLocks/>
          </p:cNvSpPr>
          <p:nvPr/>
        </p:nvSpPr>
        <p:spPr>
          <a:xfrm>
            <a:off x="8114448" y="2122289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30D6C-4F7A-4711-8480-33A4B2D9C7A4}"/>
              </a:ext>
            </a:extLst>
          </p:cNvPr>
          <p:cNvSpPr/>
          <p:nvPr/>
        </p:nvSpPr>
        <p:spPr>
          <a:xfrm>
            <a:off x="6991704" y="1835205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Google Shape;389;p37">
            <a:extLst>
              <a:ext uri="{FF2B5EF4-FFF2-40B4-BE49-F238E27FC236}">
                <a16:creationId xmlns:a16="http://schemas.microsoft.com/office/drawing/2014/main" id="{57584F14-C7CD-46B3-B179-9AEABCEAF08D}"/>
              </a:ext>
            </a:extLst>
          </p:cNvPr>
          <p:cNvSpPr txBox="1">
            <a:spLocks/>
          </p:cNvSpPr>
          <p:nvPr/>
        </p:nvSpPr>
        <p:spPr>
          <a:xfrm>
            <a:off x="7162227" y="2029747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LOCALIZED PRICING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2" name="Google Shape;389;p37">
            <a:extLst>
              <a:ext uri="{FF2B5EF4-FFF2-40B4-BE49-F238E27FC236}">
                <a16:creationId xmlns:a16="http://schemas.microsoft.com/office/drawing/2014/main" id="{A8E7F093-3BE4-4269-9875-2E14F95BA47D}"/>
              </a:ext>
            </a:extLst>
          </p:cNvPr>
          <p:cNvSpPr txBox="1">
            <a:spLocks/>
          </p:cNvSpPr>
          <p:nvPr/>
        </p:nvSpPr>
        <p:spPr>
          <a:xfrm>
            <a:off x="7201555" y="2457531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Payment integration 60–80% cheaper vs global apps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4" name="Google Shape;395;p37">
            <a:extLst>
              <a:ext uri="{FF2B5EF4-FFF2-40B4-BE49-F238E27FC236}">
                <a16:creationId xmlns:a16="http://schemas.microsoft.com/office/drawing/2014/main" id="{2488F852-5773-497D-9D37-CF84EBA994A7}"/>
              </a:ext>
            </a:extLst>
          </p:cNvPr>
          <p:cNvSpPr txBox="1">
            <a:spLocks/>
          </p:cNvSpPr>
          <p:nvPr/>
        </p:nvSpPr>
        <p:spPr>
          <a:xfrm>
            <a:off x="2221127" y="3681458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0B9B94-DBA3-4F9C-AEC9-F2BA50F6CCFA}"/>
              </a:ext>
            </a:extLst>
          </p:cNvPr>
          <p:cNvSpPr/>
          <p:nvPr/>
        </p:nvSpPr>
        <p:spPr>
          <a:xfrm>
            <a:off x="1098383" y="3394374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Google Shape;389;p37">
            <a:extLst>
              <a:ext uri="{FF2B5EF4-FFF2-40B4-BE49-F238E27FC236}">
                <a16:creationId xmlns:a16="http://schemas.microsoft.com/office/drawing/2014/main" id="{030B7D91-1A29-4452-AAF2-B6A7DDEC78BE}"/>
              </a:ext>
            </a:extLst>
          </p:cNvPr>
          <p:cNvSpPr txBox="1">
            <a:spLocks/>
          </p:cNvSpPr>
          <p:nvPr/>
        </p:nvSpPr>
        <p:spPr>
          <a:xfrm>
            <a:off x="1268906" y="3588916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CULTURAL MODULES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7" name="Google Shape;389;p37">
            <a:extLst>
              <a:ext uri="{FF2B5EF4-FFF2-40B4-BE49-F238E27FC236}">
                <a16:creationId xmlns:a16="http://schemas.microsoft.com/office/drawing/2014/main" id="{C34377C9-949E-4CDF-AB29-602598E9ABEB}"/>
              </a:ext>
            </a:extLst>
          </p:cNvPr>
          <p:cNvSpPr txBox="1">
            <a:spLocks/>
          </p:cNvSpPr>
          <p:nvPr/>
        </p:nvSpPr>
        <p:spPr>
          <a:xfrm>
            <a:off x="1308234" y="4016700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Folktales, folk songs, oral literature as learning content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8" name="Google Shape;395;p37">
            <a:extLst>
              <a:ext uri="{FF2B5EF4-FFF2-40B4-BE49-F238E27FC236}">
                <a16:creationId xmlns:a16="http://schemas.microsoft.com/office/drawing/2014/main" id="{F4A02F81-7730-4928-BA63-F44E443B843E}"/>
              </a:ext>
            </a:extLst>
          </p:cNvPr>
          <p:cNvSpPr txBox="1">
            <a:spLocks/>
          </p:cNvSpPr>
          <p:nvPr/>
        </p:nvSpPr>
        <p:spPr>
          <a:xfrm>
            <a:off x="8114448" y="366966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0859AB-D4A8-4588-B0F3-E536AA748626}"/>
              </a:ext>
            </a:extLst>
          </p:cNvPr>
          <p:cNvSpPr/>
          <p:nvPr/>
        </p:nvSpPr>
        <p:spPr>
          <a:xfrm>
            <a:off x="6991704" y="3382576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Google Shape;389;p37">
            <a:extLst>
              <a:ext uri="{FF2B5EF4-FFF2-40B4-BE49-F238E27FC236}">
                <a16:creationId xmlns:a16="http://schemas.microsoft.com/office/drawing/2014/main" id="{EBC53C33-6DFE-42A9-8470-F6974B816A36}"/>
              </a:ext>
            </a:extLst>
          </p:cNvPr>
          <p:cNvSpPr txBox="1">
            <a:spLocks/>
          </p:cNvSpPr>
          <p:nvPr/>
        </p:nvSpPr>
        <p:spPr>
          <a:xfrm>
            <a:off x="7162227" y="3577118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PWA TECHNOLOGY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2" name="Google Shape;389;p37">
            <a:extLst>
              <a:ext uri="{FF2B5EF4-FFF2-40B4-BE49-F238E27FC236}">
                <a16:creationId xmlns:a16="http://schemas.microsoft.com/office/drawing/2014/main" id="{A7DCB420-4839-4033-9F02-AE2BAFD5CD36}"/>
              </a:ext>
            </a:extLst>
          </p:cNvPr>
          <p:cNvSpPr txBox="1">
            <a:spLocks/>
          </p:cNvSpPr>
          <p:nvPr/>
        </p:nvSpPr>
        <p:spPr>
          <a:xfrm>
            <a:off x="7201555" y="4004902"/>
            <a:ext cx="3782239" cy="4351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No app store needed, works on any device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3" name="Google Shape;395;p37">
            <a:extLst>
              <a:ext uri="{FF2B5EF4-FFF2-40B4-BE49-F238E27FC236}">
                <a16:creationId xmlns:a16="http://schemas.microsoft.com/office/drawing/2014/main" id="{3AA5C365-45DA-4BCD-A726-D77194059D3C}"/>
              </a:ext>
            </a:extLst>
          </p:cNvPr>
          <p:cNvSpPr txBox="1">
            <a:spLocks/>
          </p:cNvSpPr>
          <p:nvPr/>
        </p:nvSpPr>
        <p:spPr>
          <a:xfrm>
            <a:off x="2221127" y="5228829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ED7FD7-2AA3-49E0-841E-8C50C079567E}"/>
              </a:ext>
            </a:extLst>
          </p:cNvPr>
          <p:cNvSpPr/>
          <p:nvPr/>
        </p:nvSpPr>
        <p:spPr>
          <a:xfrm>
            <a:off x="1098383" y="4941745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Google Shape;389;p37">
            <a:extLst>
              <a:ext uri="{FF2B5EF4-FFF2-40B4-BE49-F238E27FC236}">
                <a16:creationId xmlns:a16="http://schemas.microsoft.com/office/drawing/2014/main" id="{79CA97D8-48EC-4F66-9F3F-5A404EFC5412}"/>
              </a:ext>
            </a:extLst>
          </p:cNvPr>
          <p:cNvSpPr txBox="1">
            <a:spLocks/>
          </p:cNvSpPr>
          <p:nvPr/>
        </p:nvSpPr>
        <p:spPr>
          <a:xfrm>
            <a:off x="1268906" y="5081321"/>
            <a:ext cx="409578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3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MULTIMODAL LEARNING</a:t>
            </a:r>
            <a:endParaRPr lang="en-ID" sz="23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8" name="Google Shape;389;p37">
            <a:extLst>
              <a:ext uri="{FF2B5EF4-FFF2-40B4-BE49-F238E27FC236}">
                <a16:creationId xmlns:a16="http://schemas.microsoft.com/office/drawing/2014/main" id="{F84EFE14-CADD-438A-9C0B-3B3C8997CE76}"/>
              </a:ext>
            </a:extLst>
          </p:cNvPr>
          <p:cNvSpPr txBox="1">
            <a:spLocks/>
          </p:cNvSpPr>
          <p:nvPr/>
        </p:nvSpPr>
        <p:spPr>
          <a:xfrm>
            <a:off x="1308234" y="5564071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Text Q&amp;A, audio listening, comprehension exercises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9" name="Google Shape;395;p37">
            <a:extLst>
              <a:ext uri="{FF2B5EF4-FFF2-40B4-BE49-F238E27FC236}">
                <a16:creationId xmlns:a16="http://schemas.microsoft.com/office/drawing/2014/main" id="{BC272442-FAF3-4B4A-B784-C9ABC76854D0}"/>
              </a:ext>
            </a:extLst>
          </p:cNvPr>
          <p:cNvSpPr txBox="1">
            <a:spLocks/>
          </p:cNvSpPr>
          <p:nvPr/>
        </p:nvSpPr>
        <p:spPr>
          <a:xfrm>
            <a:off x="8114448" y="5217031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CC8E98-C7E6-4E26-9BC9-BC489C4CAD5C}"/>
              </a:ext>
            </a:extLst>
          </p:cNvPr>
          <p:cNvSpPr/>
          <p:nvPr/>
        </p:nvSpPr>
        <p:spPr>
          <a:xfrm>
            <a:off x="6991704" y="4929947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Google Shape;389;p37">
            <a:extLst>
              <a:ext uri="{FF2B5EF4-FFF2-40B4-BE49-F238E27FC236}">
                <a16:creationId xmlns:a16="http://schemas.microsoft.com/office/drawing/2014/main" id="{2B79625E-0F8B-4C9F-A4C7-3DD81438AE19}"/>
              </a:ext>
            </a:extLst>
          </p:cNvPr>
          <p:cNvSpPr txBox="1">
            <a:spLocks/>
          </p:cNvSpPr>
          <p:nvPr/>
        </p:nvSpPr>
        <p:spPr>
          <a:xfrm>
            <a:off x="7162227" y="5067927"/>
            <a:ext cx="3925263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CULTURAL AUTHENTICITY</a:t>
            </a:r>
            <a:endParaRPr lang="en-ID" sz="22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2" name="Google Shape;389;p37">
            <a:extLst>
              <a:ext uri="{FF2B5EF4-FFF2-40B4-BE49-F238E27FC236}">
                <a16:creationId xmlns:a16="http://schemas.microsoft.com/office/drawing/2014/main" id="{831B7E3F-B63C-45EF-9627-E5417EA87887}"/>
              </a:ext>
            </a:extLst>
          </p:cNvPr>
          <p:cNvSpPr txBox="1">
            <a:spLocks/>
          </p:cNvSpPr>
          <p:nvPr/>
        </p:nvSpPr>
        <p:spPr>
          <a:xfrm>
            <a:off x="7201555" y="5552273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Community-reviewed content preserving linguistic integrity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3884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671263C-E3C5-4A0E-AFA7-1EDA0650F029}"/>
              </a:ext>
            </a:extLst>
          </p:cNvPr>
          <p:cNvSpPr/>
          <p:nvPr/>
        </p:nvSpPr>
        <p:spPr>
          <a:xfrm>
            <a:off x="6639611" y="1952271"/>
            <a:ext cx="3863605" cy="4355748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8A2484-579E-4127-8BB8-0E2283BDEF60}"/>
              </a:ext>
            </a:extLst>
          </p:cNvPr>
          <p:cNvSpPr/>
          <p:nvPr/>
        </p:nvSpPr>
        <p:spPr>
          <a:xfrm>
            <a:off x="2048614" y="2934294"/>
            <a:ext cx="3674299" cy="1690253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21281" r="16328" b="15555"/>
          <a:stretch/>
        </p:blipFill>
        <p:spPr>
          <a:xfrm>
            <a:off x="170392" y="228690"/>
            <a:ext cx="612703" cy="60010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579348" y="3496961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>
            <a:off x="6979920" y="-9157"/>
            <a:ext cx="5212080" cy="1075795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6639611" y="392810"/>
            <a:ext cx="596716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IMPACT &amp; FUTURE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7F51D-7B58-43AC-85C6-42F8158C8385}"/>
              </a:ext>
            </a:extLst>
          </p:cNvPr>
          <p:cNvSpPr/>
          <p:nvPr/>
        </p:nvSpPr>
        <p:spPr>
          <a:xfrm>
            <a:off x="1456604" y="3209877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8A915EC6-8FB7-492F-A702-5BC89EC08B17}"/>
              </a:ext>
            </a:extLst>
          </p:cNvPr>
          <p:cNvSpPr txBox="1">
            <a:spLocks/>
          </p:cNvSpPr>
          <p:nvPr/>
        </p:nvSpPr>
        <p:spPr>
          <a:xfrm>
            <a:off x="1627127" y="3404419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TODAY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0" name="Google Shape;389;p37">
            <a:extLst>
              <a:ext uri="{FF2B5EF4-FFF2-40B4-BE49-F238E27FC236}">
                <a16:creationId xmlns:a16="http://schemas.microsoft.com/office/drawing/2014/main" id="{A6CE9AD7-8BAF-4ACC-9E1F-A0ADFA814680}"/>
              </a:ext>
            </a:extLst>
          </p:cNvPr>
          <p:cNvSpPr txBox="1">
            <a:spLocks/>
          </p:cNvSpPr>
          <p:nvPr/>
        </p:nvSpPr>
        <p:spPr>
          <a:xfrm>
            <a:off x="1666455" y="3832203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Functional prototype with NLP + cultural content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8" name="Google Shape;395;p37">
            <a:extLst>
              <a:ext uri="{FF2B5EF4-FFF2-40B4-BE49-F238E27FC236}">
                <a16:creationId xmlns:a16="http://schemas.microsoft.com/office/drawing/2014/main" id="{86F39A92-19BF-4E78-AD34-15F14EAFEEFE}"/>
              </a:ext>
            </a:extLst>
          </p:cNvPr>
          <p:cNvSpPr txBox="1">
            <a:spLocks/>
          </p:cNvSpPr>
          <p:nvPr/>
        </p:nvSpPr>
        <p:spPr>
          <a:xfrm>
            <a:off x="8102664" y="1952271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30D6C-4F7A-4711-8480-33A4B2D9C7A4}"/>
              </a:ext>
            </a:extLst>
          </p:cNvPr>
          <p:cNvSpPr/>
          <p:nvPr/>
        </p:nvSpPr>
        <p:spPr>
          <a:xfrm>
            <a:off x="6979920" y="1665187"/>
            <a:ext cx="4095786" cy="4018840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Google Shape;389;p37">
            <a:extLst>
              <a:ext uri="{FF2B5EF4-FFF2-40B4-BE49-F238E27FC236}">
                <a16:creationId xmlns:a16="http://schemas.microsoft.com/office/drawing/2014/main" id="{57584F14-C7CD-46B3-B179-9AEABCEAF08D}"/>
              </a:ext>
            </a:extLst>
          </p:cNvPr>
          <p:cNvSpPr txBox="1">
            <a:spLocks/>
          </p:cNvSpPr>
          <p:nvPr/>
        </p:nvSpPr>
        <p:spPr>
          <a:xfrm>
            <a:off x="7150443" y="1859729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FUTURE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2" name="Google Shape;389;p37">
            <a:extLst>
              <a:ext uri="{FF2B5EF4-FFF2-40B4-BE49-F238E27FC236}">
                <a16:creationId xmlns:a16="http://schemas.microsoft.com/office/drawing/2014/main" id="{A8E7F093-3BE4-4269-9875-2E14F95BA47D}"/>
              </a:ext>
            </a:extLst>
          </p:cNvPr>
          <p:cNvSpPr txBox="1">
            <a:spLocks/>
          </p:cNvSpPr>
          <p:nvPr/>
        </p:nvSpPr>
        <p:spPr>
          <a:xfrm>
            <a:off x="7118022" y="3839873"/>
            <a:ext cx="3782239" cy="1577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Native speaker community hub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Offline / low-bandwidth mode for rural communities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Language certification system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Expansion to </a:t>
            </a:r>
            <a:r>
              <a:rPr lang="en-US" sz="1400" dirty="0" err="1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Kadazan</a:t>
            </a: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-Dusun &amp; Orang Ulu dialects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AI voice synthesis with regional accents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400D01-D61C-4CED-9506-114618D66892}"/>
              </a:ext>
            </a:extLst>
          </p:cNvPr>
          <p:cNvSpPr/>
          <p:nvPr/>
        </p:nvSpPr>
        <p:spPr>
          <a:xfrm>
            <a:off x="1" y="6247505"/>
            <a:ext cx="3188229" cy="627477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Google Shape;389;p37">
            <a:extLst>
              <a:ext uri="{FF2B5EF4-FFF2-40B4-BE49-F238E27FC236}">
                <a16:creationId xmlns:a16="http://schemas.microsoft.com/office/drawing/2014/main" id="{44143C3B-3B8C-43B4-9F40-D165519D4918}"/>
              </a:ext>
            </a:extLst>
          </p:cNvPr>
          <p:cNvSpPr txBox="1">
            <a:spLocks/>
          </p:cNvSpPr>
          <p:nvPr/>
        </p:nvSpPr>
        <p:spPr>
          <a:xfrm>
            <a:off x="0" y="6247505"/>
            <a:ext cx="318822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What's Next for </a:t>
            </a:r>
            <a:r>
              <a:rPr lang="en-US" sz="1800" dirty="0" err="1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Tutur</a:t>
            </a: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 ? 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7296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4908553-E97A-44A2-BD13-C05A8D2CD72C}"/>
              </a:ext>
            </a:extLst>
          </p:cNvPr>
          <p:cNvSpPr/>
          <p:nvPr/>
        </p:nvSpPr>
        <p:spPr>
          <a:xfrm>
            <a:off x="2781797" y="3615325"/>
            <a:ext cx="6589072" cy="1835403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3960" y="0"/>
            <a:ext cx="868040" cy="86804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62825" y="124340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999241" y="-779160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377822" y="6278252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4764A4-FE06-434A-9ABB-E7D0EAA9CBB4}"/>
              </a:ext>
            </a:extLst>
          </p:cNvPr>
          <p:cNvSpPr/>
          <p:nvPr/>
        </p:nvSpPr>
        <p:spPr>
          <a:xfrm>
            <a:off x="1710676" y="2259708"/>
            <a:ext cx="8976987" cy="1900218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Google Shape;389;p37">
            <a:extLst>
              <a:ext uri="{FF2B5EF4-FFF2-40B4-BE49-F238E27FC236}">
                <a16:creationId xmlns:a16="http://schemas.microsoft.com/office/drawing/2014/main" id="{2FF300E1-618E-4710-BA5F-FBEDD000AE63}"/>
              </a:ext>
            </a:extLst>
          </p:cNvPr>
          <p:cNvSpPr txBox="1">
            <a:spLocks/>
          </p:cNvSpPr>
          <p:nvPr/>
        </p:nvSpPr>
        <p:spPr>
          <a:xfrm>
            <a:off x="1710676" y="3391165"/>
            <a:ext cx="873131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PRESERVING VOICES, ONE LANGUAGE AT A TIME</a:t>
            </a:r>
            <a:endParaRPr lang="en-ID" sz="4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2BF82A-9684-4E6E-99AD-6BB547A3D230}"/>
              </a:ext>
            </a:extLst>
          </p:cNvPr>
          <p:cNvSpPr/>
          <p:nvPr/>
        </p:nvSpPr>
        <p:spPr>
          <a:xfrm>
            <a:off x="2143160" y="4021506"/>
            <a:ext cx="8003730" cy="829384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Google Shape;389;p37">
            <a:extLst>
              <a:ext uri="{FF2B5EF4-FFF2-40B4-BE49-F238E27FC236}">
                <a16:creationId xmlns:a16="http://schemas.microsoft.com/office/drawing/2014/main" id="{4662D738-68EB-4421-89B8-EE347B364933}"/>
              </a:ext>
            </a:extLst>
          </p:cNvPr>
          <p:cNvSpPr txBox="1">
            <a:spLocks/>
          </p:cNvSpPr>
          <p:nvPr/>
        </p:nvSpPr>
        <p:spPr>
          <a:xfrm>
            <a:off x="2261418" y="4262567"/>
            <a:ext cx="7629831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"When a language dies, humanity loses a perspective that can never be recovered."</a:t>
            </a:r>
            <a:endParaRPr lang="en-ID" sz="20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A2C14E87-D419-4ED2-AB52-225E10D6BEAA}"/>
              </a:ext>
            </a:extLst>
          </p:cNvPr>
          <p:cNvSpPr txBox="1">
            <a:spLocks/>
          </p:cNvSpPr>
          <p:nvPr/>
        </p:nvSpPr>
        <p:spPr>
          <a:xfrm>
            <a:off x="9374323" y="6330300"/>
            <a:ext cx="320201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THANK YOU</a:t>
            </a:r>
            <a:endParaRPr lang="en-ID" sz="3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7867C-E5F8-4570-9A26-79149E326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8" y="868040"/>
            <a:ext cx="2796556" cy="27965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018716-E3E5-4280-86DE-6B71C5E47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61973" y="3128139"/>
            <a:ext cx="2796556" cy="2796556"/>
          </a:xfrm>
          <a:prstGeom prst="rect">
            <a:avLst/>
          </a:prstGeom>
        </p:spPr>
      </p:pic>
      <p:sp>
        <p:nvSpPr>
          <p:cNvPr id="20" name="Google Shape;389;p37">
            <a:extLst>
              <a:ext uri="{FF2B5EF4-FFF2-40B4-BE49-F238E27FC236}">
                <a16:creationId xmlns:a16="http://schemas.microsoft.com/office/drawing/2014/main" id="{B3320834-11FF-47A3-8B00-59957EACC061}"/>
              </a:ext>
            </a:extLst>
          </p:cNvPr>
          <p:cNvSpPr txBox="1">
            <a:spLocks/>
          </p:cNvSpPr>
          <p:nvPr/>
        </p:nvSpPr>
        <p:spPr>
          <a:xfrm>
            <a:off x="2281084" y="4876345"/>
            <a:ext cx="7629831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https://tutur-app.my.id/</a:t>
            </a:r>
            <a:endParaRPr lang="en-ID" sz="20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82031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242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Rubik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Mutsurini</dc:creator>
  <cp:lastModifiedBy>Mutsurini</cp:lastModifiedBy>
  <cp:revision>9</cp:revision>
  <dcterms:created xsi:type="dcterms:W3CDTF">2026-03-11T23:59:26Z</dcterms:created>
  <dcterms:modified xsi:type="dcterms:W3CDTF">2026-03-12T14:52:48Z</dcterms:modified>
</cp:coreProperties>
</file>